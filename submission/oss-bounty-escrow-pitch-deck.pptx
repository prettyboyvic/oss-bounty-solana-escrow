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6c83b677624ac5" /><Relationship Type="http://schemas.openxmlformats.org/officeDocument/2006/relationships/extended-properties" Target="/docProps/app.xml" Id="Rcd209ee7de94418f" /><Relationship Type="http://schemas.openxmlformats.org/officeDocument/2006/relationships/officeDocument" Target="/ppt/presentation.xml" Id="Rd6d039fcc09d41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6a76494f1a4963"/>
  </p:sldMasterIdLst>
  <p:notesMasterIdLst>
    <p:notesMasterId xmlns:r="http://schemas.openxmlformats.org/officeDocument/2006/relationships" r:id="R133cd514f4e5471a"/>
  </p:notesMasterIdLst>
  <p:sldIdLst>
    <p:sldId xmlns:r="http://schemas.openxmlformats.org/officeDocument/2006/relationships" id="256" r:id="Re6afa01abf074df3"/>
    <p:sldId xmlns:r="http://schemas.openxmlformats.org/officeDocument/2006/relationships" id="257" r:id="R6d4aa288091c48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681b2481b44fef" /><Relationship Type="http://schemas.openxmlformats.org/officeDocument/2006/relationships/slideMaster" Target="/ppt/slideMasters/slideMaster1.xml" Id="R716a76494f1a4963" /><Relationship Type="http://schemas.openxmlformats.org/officeDocument/2006/relationships/notesMaster" Target="/ppt/notesMasters/notesMaster1.xml" Id="R133cd514f4e5471a" /><Relationship Type="http://schemas.openxmlformats.org/officeDocument/2006/relationships/presProps" Target="/ppt/presProps.xml" Id="R6009026f0954423d" /><Relationship Type="http://schemas.openxmlformats.org/officeDocument/2006/relationships/tableStyles" Target="/ppt/tableStyles.xml" Id="Rd61936a94db9496d" /><Relationship Type="http://schemas.openxmlformats.org/officeDocument/2006/relationships/slide" Target="/ppt/slides/slide1.xml" Id="Re6afa01abf074df3" /><Relationship Type="http://schemas.openxmlformats.org/officeDocument/2006/relationships/slide" Target="/ppt/slides/slide2.xml" Id="R6d4aa288091c48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54626ef5d744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960b552f424602" /><Relationship Type="http://schemas.openxmlformats.org/officeDocument/2006/relationships/notesMaster" Target="/ppt/notesMasters/notesMaster1.xml" Id="R042882016e4c42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0271ea303b4867" /><Relationship Type="http://schemas.openxmlformats.org/officeDocument/2006/relationships/notesMaster" Target="/ppt/notesMasters/notesMaster1.xml" Id="R3b7755f0a8034f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program source: programs/oss-bounty-escrow/src/lib.rs and rules.rs</a:t>
            </a:r>
          </a:p>
          <a:p xmlns:a="http://schemas.openxmlformats.org/drawingml/2006/main">
            <a:r>
              <a:t>- Reviewed workflow documentation: docs/BUSINESS_FLOW_RUNNER.md</a:t>
            </a:r>
          </a:p>
          <a:p xmlns:a="http://schemas.openxmlformats.org/drawingml/2006/main">
            <a:r>
              <a:t>- Approved submission-package design narrative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docs/evidence/evidence-manifest.json</a:t>
            </a:r>
          </a:p>
          <a:p xmlns:a="http://schemas.openxmlformats.org/drawingml/2006/main">
            <a:r>
              <a:t>- docs/evidence/LIVE_VERIFICATION_REPORT.md</a:t>
            </a:r>
          </a:p>
          <a:p xmlns:a="http://schemas.openxmlformats.org/drawingml/2006/main">
            <a:r>
              <a:t>- docs/evidence/EXPLORER_INDEX.md</a:t>
            </a:r>
          </a:p>
          <a:p xmlns:a="http://schemas.openxmlformats.org/drawingml/2006/main">
            <a:r>
              <a:t>- Repository program source: programs/oss-bounty-escrow/src/lib.rs and rules.rs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5fdbb672fd47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639662b2154b0b" /><Relationship Type="http://schemas.openxmlformats.org/officeDocument/2006/relationships/slideLayout" Target="/ppt/slideLayouts/slideLayout1.xml" Id="R1a1db27d433045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1db27d433045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e09b4b2d84aa1" /><Relationship Type="http://schemas.openxmlformats.org/officeDocument/2006/relationships/notesSlide" Target="/ppt/notesSlides/notesSlide1.xml" Id="Rc59baa2b480d48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6bc8fa87e4562" /><Relationship Type="http://schemas.openxmlformats.org/officeDocument/2006/relationships/notesSlide" Target="/ppt/notesSlides/notesSlide2.xml" Id="R860ca2fec6b749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E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roject-label">
            <a:extLst xmlns:a="http://schemas.openxmlformats.org/drawingml/2006/main">
              <a:ext uri="{FF2B5EF4-FFF2-40B4-BE49-F238E27FC236}">
                <a16:creationId xmlns:a16="http://schemas.microsoft.com/office/drawing/2014/main" id="{523BFF90-A27B-4BF7-9CCB-7529A89B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F195"/>
                </a:solidFill>
              </a:defRPr>
            </a:pPr>
            <a:r>
              <a:rPr sz="1200" b="1">
                <a:solidFill>
                  <a:srgbClr val="14F195"/>
                </a:solidFill>
              </a:rPr>
              <a:t>OSS BOUNTY ESCROW ON SOLANA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FBA0575B-771E-4E48-AEC7-A271D184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E8EDF7"/>
                </a:solidFill>
              </a:defRPr>
            </a:pPr>
            <a:r>
              <a:rPr sz="4200" b="1">
                <a:solidFill>
                  <a:srgbClr val="E8EDF7"/>
                </a:solidFill>
              </a:rPr>
              <a:t>Bounty funding should be verifiable before work begins.</a:t>
            </a:r>
          </a:p>
        </p:txBody>
      </p:sp>
      <p:sp>
        <p:nvSpPr>
          <p:cNvPr id="3" name="proposition">
            <a:extLst xmlns:a="http://schemas.openxmlformats.org/drawingml/2006/main">
              <a:ext uri="{FF2B5EF4-FFF2-40B4-BE49-F238E27FC236}">
                <a16:creationId xmlns:a16="http://schemas.microsoft.com/office/drawing/2014/main" id="{81D11AA3-8F33-4CED-BBBF-98662F2E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AA7C2"/>
                </a:solidFill>
              </a:defRPr>
            </a:pPr>
            <a:r>
              <a:rPr sz="1725" b="0">
                <a:solidFill>
                  <a:srgbClr val="9AA7C2"/>
                </a:solidFill>
              </a:rPr>
              <a:t>A sponsor locks the promised test-token reward before work. A maintainer releases it when work is accepted—or the sponsor recovers it after expiry.</a:t>
            </a:r>
          </a:p>
        </p:txBody>
      </p:sp>
      <p:sp>
        <p:nvSpPr>
          <p:cNvPr id="4" name="flow-line-1">
            <a:extLst xmlns:a="http://schemas.openxmlformats.org/drawingml/2006/main">
              <a:ext uri="{FF2B5EF4-FFF2-40B4-BE49-F238E27FC236}">
                <a16:creationId xmlns:a16="http://schemas.microsoft.com/office/drawing/2014/main" id="{A69C2787-1E2C-468B-B71B-EAEA9F9B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4099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45FF"/>
          </a:solidFill>
          <a:ln xmlns:a="http://schemas.openxmlformats.org/drawingml/2006/main" w="0">
            <a:solidFill>
              <a:srgbClr val="9945FF"/>
            </a:solidFill>
            <a:prstDash val="solid"/>
          </a:ln>
        </p:spPr>
      </p:sp>
      <p:sp>
        <p:nvSpPr>
          <p:cNvPr id="5" name="flow-line-2">
            <a:extLst xmlns:a="http://schemas.openxmlformats.org/drawingml/2006/main">
              <a:ext uri="{FF2B5EF4-FFF2-40B4-BE49-F238E27FC236}">
                <a16:creationId xmlns:a16="http://schemas.microsoft.com/office/drawing/2014/main" id="{64D09B59-C7FD-4B19-838A-8EF83297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4099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F195"/>
          </a:solidFill>
          <a:ln xmlns:a="http://schemas.openxmlformats.org/drawingml/2006/main" w="0">
            <a:solidFill>
              <a:srgbClr val="14F195"/>
            </a:solidFill>
            <a:prstDash val="solid"/>
          </a:ln>
        </p:spPr>
      </p:sp>
      <p:sp>
        <p:nvSpPr>
          <p:cNvPr id="6" name="flow-line-3">
            <a:extLst xmlns:a="http://schemas.openxmlformats.org/drawingml/2006/main">
              <a:ext uri="{FF2B5EF4-FFF2-40B4-BE49-F238E27FC236}">
                <a16:creationId xmlns:a16="http://schemas.microsoft.com/office/drawing/2014/main" id="{D4EB6B5F-1264-4F8B-8F17-462813D6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4099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F195"/>
          </a:solidFill>
          <a:ln xmlns:a="http://schemas.openxmlformats.org/drawingml/2006/main" w="0">
            <a:solidFill>
              <a:srgbClr val="14F195"/>
            </a:solidFill>
            <a:prstDash val="solid"/>
          </a:ln>
        </p:spPr>
      </p:sp>
      <p:sp>
        <p:nvSpPr>
          <p:cNvPr id="7" name="flow-line-4">
            <a:extLst xmlns:a="http://schemas.openxmlformats.org/drawingml/2006/main">
              <a:ext uri="{FF2B5EF4-FFF2-40B4-BE49-F238E27FC236}">
                <a16:creationId xmlns:a16="http://schemas.microsoft.com/office/drawing/2014/main" id="{756357C0-939E-41C7-90EE-ED61216E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409950"/>
            <a:ext cx="121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8" name="expiry-stem">
            <a:extLst xmlns:a="http://schemas.openxmlformats.org/drawingml/2006/main">
              <a:ext uri="{FF2B5EF4-FFF2-40B4-BE49-F238E27FC236}">
                <a16:creationId xmlns:a16="http://schemas.microsoft.com/office/drawing/2014/main" id="{EA226F9D-4B08-4660-856E-6ECC3AEA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10000"/>
            <a:ext cx="38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solidFill>
              <a:srgbClr val="F5A524"/>
            </a:solidFill>
            <a:prstDash val="solid"/>
          </a:ln>
        </p:spPr>
      </p:sp>
      <p:sp>
        <p:nvSpPr>
          <p:cNvPr id="9" name="expiry-branch">
            <a:extLst xmlns:a="http://schemas.openxmlformats.org/drawingml/2006/main">
              <a:ext uri="{FF2B5EF4-FFF2-40B4-BE49-F238E27FC236}">
                <a16:creationId xmlns:a16="http://schemas.microsoft.com/office/drawing/2014/main" id="{9358164C-D80D-46BF-A78E-11C6C25B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00550"/>
            <a:ext cx="1371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solidFill>
              <a:srgbClr val="F5A524"/>
            </a:solidFill>
            <a:prstDash val="solid"/>
          </a:ln>
        </p:spPr>
      </p:sp>
      <p:sp>
        <p:nvSpPr>
          <p:cNvPr id="10" name="node-01">
            <a:extLst xmlns:a="http://schemas.openxmlformats.org/drawingml/2006/main">
              <a:ext uri="{FF2B5EF4-FFF2-40B4-BE49-F238E27FC236}">
                <a16:creationId xmlns:a16="http://schemas.microsoft.com/office/drawing/2014/main" id="{7389B3B1-1EE4-4014-AF7C-23EF89A0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9431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726"/>
          </a:solidFill>
          <a:ln xmlns:a="http://schemas.openxmlformats.org/drawingml/2006/main" w="19050">
            <a:solidFill>
              <a:srgbClr val="9945FF"/>
            </a:solidFill>
            <a:prstDash val="solid"/>
          </a:ln>
        </p:spPr>
      </p:sp>
      <p:sp>
        <p:nvSpPr>
          <p:cNvPr id="11" name="node-index-01">
            <a:extLst xmlns:a="http://schemas.openxmlformats.org/drawingml/2006/main">
              <a:ext uri="{FF2B5EF4-FFF2-40B4-BE49-F238E27FC236}">
                <a16:creationId xmlns:a16="http://schemas.microsoft.com/office/drawing/2014/main" id="{9050CD7B-98C7-4EC9-9605-AF86F4DF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945FF"/>
                </a:solidFill>
              </a:defRPr>
            </a:pPr>
            <a:r>
              <a:rPr sz="1200" b="1">
                <a:solidFill>
                  <a:srgbClr val="9945FF"/>
                </a:solidFill>
              </a:rPr>
              <a:t>01</a:t>
            </a:r>
          </a:p>
        </p:txBody>
      </p:sp>
      <p:sp>
        <p:nvSpPr>
          <p:cNvPr id="12" name="node-label-01">
            <a:extLst xmlns:a="http://schemas.openxmlformats.org/drawingml/2006/main">
              <a:ext uri="{FF2B5EF4-FFF2-40B4-BE49-F238E27FC236}">
                <a16:creationId xmlns:a16="http://schemas.microsoft.com/office/drawing/2014/main" id="{118A89E1-4854-4730-B582-82D1D9D2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623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EDF7"/>
                </a:solidFill>
              </a:defRPr>
            </a:pPr>
            <a:r>
              <a:rPr sz="1650" b="1">
                <a:solidFill>
                  <a:srgbClr val="E8EDF7"/>
                </a:solidFill>
              </a:rPr>
              <a:t>Define bounty</a:t>
            </a:r>
          </a:p>
        </p:txBody>
      </p:sp>
      <p:sp>
        <p:nvSpPr>
          <p:cNvPr id="13" name="node-02">
            <a:extLst xmlns:a="http://schemas.openxmlformats.org/drawingml/2006/main">
              <a:ext uri="{FF2B5EF4-FFF2-40B4-BE49-F238E27FC236}">
                <a16:creationId xmlns:a16="http://schemas.microsoft.com/office/drawing/2014/main" id="{BA92DC5E-85E1-44EE-BC24-21A69423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52750"/>
            <a:ext cx="19431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726"/>
          </a:solidFill>
          <a:ln xmlns:a="http://schemas.openxmlformats.org/drawingml/2006/main" w="19050">
            <a:solidFill>
              <a:srgbClr val="14F195"/>
            </a:solidFill>
            <a:prstDash val="solid"/>
          </a:ln>
        </p:spPr>
      </p:sp>
      <p:sp>
        <p:nvSpPr>
          <p:cNvPr id="14" name="node-index-02">
            <a:extLst xmlns:a="http://schemas.openxmlformats.org/drawingml/2006/main">
              <a:ext uri="{FF2B5EF4-FFF2-40B4-BE49-F238E27FC236}">
                <a16:creationId xmlns:a16="http://schemas.microsoft.com/office/drawing/2014/main" id="{0CC15675-7F25-41BD-ABCA-F059504F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051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F195"/>
                </a:solidFill>
              </a:defRPr>
            </a:pPr>
            <a:r>
              <a:rPr sz="1200" b="1">
                <a:solidFill>
                  <a:srgbClr val="14F195"/>
                </a:solidFill>
              </a:rPr>
              <a:t>02</a:t>
            </a:r>
          </a:p>
        </p:txBody>
      </p:sp>
      <p:sp>
        <p:nvSpPr>
          <p:cNvPr id="15" name="node-label-02">
            <a:extLst xmlns:a="http://schemas.openxmlformats.org/drawingml/2006/main">
              <a:ext uri="{FF2B5EF4-FFF2-40B4-BE49-F238E27FC236}">
                <a16:creationId xmlns:a16="http://schemas.microsoft.com/office/drawing/2014/main" id="{F3E2DE2C-15FE-41F9-8C96-3ED6DC12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623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EDF7"/>
                </a:solidFill>
              </a:defRPr>
            </a:pPr>
            <a:r>
              <a:rPr sz="1650" b="1">
                <a:solidFill>
                  <a:srgbClr val="E8EDF7"/>
                </a:solidFill>
              </a:rPr>
              <a:t>Fund escrow</a:t>
            </a:r>
          </a:p>
        </p:txBody>
      </p:sp>
      <p:sp>
        <p:nvSpPr>
          <p:cNvPr id="16" name="node-03">
            <a:extLst xmlns:a="http://schemas.openxmlformats.org/drawingml/2006/main">
              <a:ext uri="{FF2B5EF4-FFF2-40B4-BE49-F238E27FC236}">
                <a16:creationId xmlns:a16="http://schemas.microsoft.com/office/drawing/2014/main" id="{AEDE62EF-4AC2-478A-BB84-7541EA9E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19431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726"/>
          </a:solidFill>
          <a:ln xmlns:a="http://schemas.openxmlformats.org/drawingml/2006/main" w="19050">
            <a:solidFill>
              <a:srgbClr val="14F195"/>
            </a:solidFill>
            <a:prstDash val="solid"/>
          </a:ln>
        </p:spPr>
      </p:sp>
      <p:sp>
        <p:nvSpPr>
          <p:cNvPr id="17" name="node-index-03">
            <a:extLst xmlns:a="http://schemas.openxmlformats.org/drawingml/2006/main">
              <a:ext uri="{FF2B5EF4-FFF2-40B4-BE49-F238E27FC236}">
                <a16:creationId xmlns:a16="http://schemas.microsoft.com/office/drawing/2014/main" id="{D2269E8C-EF3E-471E-8503-812197C2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F195"/>
                </a:solidFill>
              </a:defRPr>
            </a:pPr>
            <a:r>
              <a:rPr sz="1200" b="1">
                <a:solidFill>
                  <a:srgbClr val="14F195"/>
                </a:solidFill>
              </a:rPr>
              <a:t>03</a:t>
            </a:r>
          </a:p>
        </p:txBody>
      </p:sp>
      <p:sp>
        <p:nvSpPr>
          <p:cNvPr id="18" name="node-label-03">
            <a:extLst xmlns:a="http://schemas.openxmlformats.org/drawingml/2006/main">
              <a:ext uri="{FF2B5EF4-FFF2-40B4-BE49-F238E27FC236}">
                <a16:creationId xmlns:a16="http://schemas.microsoft.com/office/drawing/2014/main" id="{E2DA67F2-5019-4D47-84EB-2CD2ED51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623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EDF7"/>
                </a:solidFill>
              </a:defRPr>
            </a:pPr>
            <a:r>
              <a:rPr sz="1500" b="1">
                <a:solidFill>
                  <a:srgbClr val="E8EDF7"/>
                </a:solidFill>
              </a:rPr>
              <a:t>Human accepts work</a:t>
            </a:r>
          </a:p>
        </p:txBody>
      </p:sp>
      <p:sp>
        <p:nvSpPr>
          <p:cNvPr id="19" name="node-04">
            <a:extLst xmlns:a="http://schemas.openxmlformats.org/drawingml/2006/main">
              <a:ext uri="{FF2B5EF4-FFF2-40B4-BE49-F238E27FC236}">
                <a16:creationId xmlns:a16="http://schemas.microsoft.com/office/drawing/2014/main" id="{245F16A0-0115-4059-82E8-CF09F11C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52750"/>
            <a:ext cx="19431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726"/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</p:sp>
      <p:sp>
        <p:nvSpPr>
          <p:cNvPr id="20" name="node-index-04">
            <a:extLst xmlns:a="http://schemas.openxmlformats.org/drawingml/2006/main">
              <a:ext uri="{FF2B5EF4-FFF2-40B4-BE49-F238E27FC236}">
                <a16:creationId xmlns:a16="http://schemas.microsoft.com/office/drawing/2014/main" id="{42AD4516-3E1A-4355-861A-4A3710E5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051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C55E"/>
                </a:solidFill>
              </a:defRPr>
            </a:pPr>
            <a:r>
              <a:rPr sz="1200" b="1">
                <a:solidFill>
                  <a:srgbClr val="22C55E"/>
                </a:solidFill>
              </a:rPr>
              <a:t>04</a:t>
            </a:r>
          </a:p>
        </p:txBody>
      </p:sp>
      <p:sp>
        <p:nvSpPr>
          <p:cNvPr id="21" name="node-label-04">
            <a:extLst xmlns:a="http://schemas.openxmlformats.org/drawingml/2006/main">
              <a:ext uri="{FF2B5EF4-FFF2-40B4-BE49-F238E27FC236}">
                <a16:creationId xmlns:a16="http://schemas.microsoft.com/office/drawing/2014/main" id="{E2ECE7DA-EC31-48EB-B841-CD9BDCAF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623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EDF7"/>
                </a:solidFill>
              </a:defRPr>
            </a:pPr>
            <a:r>
              <a:rPr sz="1650" b="1">
                <a:solidFill>
                  <a:srgbClr val="E8EDF7"/>
                </a:solidFill>
              </a:rPr>
              <a:t>Release reward</a:t>
            </a:r>
          </a:p>
        </p:txBody>
      </p:sp>
      <p:sp>
        <p:nvSpPr>
          <p:cNvPr id="22" name="refund-node">
            <a:extLst xmlns:a="http://schemas.openxmlformats.org/drawingml/2006/main">
              <a:ext uri="{FF2B5EF4-FFF2-40B4-BE49-F238E27FC236}">
                <a16:creationId xmlns:a16="http://schemas.microsoft.com/office/drawing/2014/main" id="{6F31E7C5-62EA-46D4-A71E-75F90FC9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076700"/>
            <a:ext cx="1981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11726"/>
          </a:solidFill>
          <a:ln xmlns:a="http://schemas.openxmlformats.org/drawingml/2006/main" w="19050">
            <a:solidFill>
              <a:srgbClr val="F5A524"/>
            </a:solidFill>
            <a:prstDash val="solid"/>
          </a:ln>
        </p:spPr>
      </p:sp>
      <p:sp>
        <p:nvSpPr>
          <p:cNvPr id="23" name="refund-label">
            <a:extLst xmlns:a="http://schemas.openxmlformats.org/drawingml/2006/main">
              <a:ext uri="{FF2B5EF4-FFF2-40B4-BE49-F238E27FC236}">
                <a16:creationId xmlns:a16="http://schemas.microsoft.com/office/drawing/2014/main" id="{BB03A810-DCD3-46D0-8CC4-E1520865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2862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A524"/>
                </a:solidFill>
              </a:defRPr>
            </a:pPr>
            <a:r>
              <a:rPr sz="1425" b="1">
                <a:solidFill>
                  <a:srgbClr val="F5A524"/>
                </a:solidFill>
              </a:rPr>
              <a:t>Expiry → sponsor refund</a:t>
            </a:r>
          </a:p>
        </p:txBody>
      </p:sp>
      <p:sp>
        <p:nvSpPr>
          <p:cNvPr id="24" name="why-title">
            <a:extLst xmlns:a="http://schemas.openxmlformats.org/drawingml/2006/main">
              <a:ext uri="{FF2B5EF4-FFF2-40B4-BE49-F238E27FC236}">
                <a16:creationId xmlns:a16="http://schemas.microsoft.com/office/drawing/2014/main" id="{0FD993C7-EEC1-4641-93AB-77C4AFFF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F195"/>
                </a:solidFill>
              </a:defRPr>
            </a:pPr>
            <a:r>
              <a:rPr sz="2400" b="1">
                <a:solidFill>
                  <a:srgbClr val="14F195"/>
                </a:solidFill>
              </a:rPr>
              <a:t>Why Solana</a:t>
            </a:r>
          </a:p>
        </p:txBody>
      </p:sp>
      <p:sp>
        <p:nvSpPr>
          <p:cNvPr id="25" name="why-body">
            <a:extLst xmlns:a="http://schemas.openxmlformats.org/drawingml/2006/main">
              <a:ext uri="{FF2B5EF4-FFF2-40B4-BE49-F238E27FC236}">
                <a16:creationId xmlns:a16="http://schemas.microsoft.com/office/drawing/2014/main" id="{56FD867D-5D54-4331-BCDF-9E794286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5000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9AA7C2"/>
                </a:solidFill>
              </a:defRPr>
            </a:pPr>
            <a:r>
              <a:rPr sz="1650" b="0">
                <a:solidFill>
                  <a:srgbClr val="9AA7C2"/>
                </a:solidFill>
              </a:rPr>
              <a:t>Publicly verifiable program state · fast settlement · explicit token-vault authority</a:t>
            </a:r>
          </a:p>
        </p:txBody>
      </p:sp>
      <p:sp>
        <p:nvSpPr>
          <p:cNvPr id="26" name="boundary-bar">
            <a:extLst xmlns:a="http://schemas.openxmlformats.org/drawingml/2006/main">
              <a:ext uri="{FF2B5EF4-FFF2-40B4-BE49-F238E27FC236}">
                <a16:creationId xmlns:a16="http://schemas.microsoft.com/office/drawing/2014/main" id="{52ED91F1-8226-4CE0-B355-DD8880E1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953000"/>
            <a:ext cx="55626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11726"/>
          </a:solidFill>
          <a:ln xmlns:a="http://schemas.openxmlformats.org/drawingml/2006/main" w="9525">
            <a:solidFill>
              <a:srgbClr val="29334A"/>
            </a:solidFill>
            <a:prstDash val="solid"/>
          </a:ln>
        </p:spPr>
      </p:sp>
      <p:sp>
        <p:nvSpPr>
          <p:cNvPr id="27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DF1B79A9-0CB6-4896-BAF0-5CD10ED6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339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8EDF7"/>
                </a:solidFill>
              </a:defRPr>
            </a:pPr>
            <a:r>
              <a:rPr sz="1950" b="1">
                <a:solidFill>
                  <a:srgbClr val="E8EDF7"/>
                </a:solidFill>
              </a:rPr>
              <a:t>Human approval stays human.</a:t>
            </a:r>
          </a:p>
        </p:txBody>
      </p:sp>
      <p:sp>
        <p:nvSpPr>
          <p:cNvPr id="28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374B06DC-382B-42CB-A366-DCF72428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67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7C2"/>
                </a:solidFill>
              </a:defRPr>
            </a:pPr>
            <a:r>
              <a:rPr sz="1275" b="0">
                <a:solidFill>
                  <a:srgbClr val="9AA7C2"/>
                </a:solidFill>
              </a:rPr>
              <a:t>Escrow proves funding and settlement rules; it does not judge work quality or guarantee acceptance.</a:t>
            </a:r>
          </a:p>
        </p:txBody>
      </p:sp>
      <p:sp>
        <p:nvSpPr>
          <p:cNvPr id="29" name="footer-rule-1">
            <a:extLst xmlns:a="http://schemas.openxmlformats.org/drawingml/2006/main">
              <a:ext uri="{FF2B5EF4-FFF2-40B4-BE49-F238E27FC236}">
                <a16:creationId xmlns:a16="http://schemas.microsoft.com/office/drawing/2014/main" id="{AD112649-F8F6-447F-915A-981F154C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34A"/>
          </a:solidFill>
          <a:ln xmlns:a="http://schemas.openxmlformats.org/drawingml/2006/main" w="0">
            <a:solidFill>
              <a:srgbClr val="29334A"/>
            </a:solidFill>
            <a:prstDash val="solid"/>
          </a:ln>
        </p:spPr>
      </p:sp>
      <p:sp>
        <p:nvSpPr>
          <p:cNvPr id="30" name="footer-left-1">
            <a:extLst xmlns:a="http://schemas.openxmlformats.org/drawingml/2006/main">
              <a:ext uri="{FF2B5EF4-FFF2-40B4-BE49-F238E27FC236}">
                <a16:creationId xmlns:a16="http://schemas.microsoft.com/office/drawing/2014/main" id="{67DB4730-5D84-44C1-962B-1DBCB7FA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A7C2"/>
                </a:solidFill>
              </a:defRPr>
            </a:pPr>
            <a:r>
              <a:rPr sz="1050" b="1">
                <a:solidFill>
                  <a:srgbClr val="9AA7C2"/>
                </a:solidFill>
              </a:rPr>
              <a:t>OSS BOUNTY ESCROW · SOLANA DEVNET</a:t>
            </a:r>
          </a:p>
        </p:txBody>
      </p:sp>
      <p:sp>
        <p:nvSpPr>
          <p:cNvPr id="31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399FAE49-B2BF-45E0-8E4A-5EE8457D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9AA7C2"/>
                </a:solidFill>
              </a:defRPr>
            </a:pPr>
            <a:r>
              <a:rPr sz="1050" b="1">
                <a:solidFill>
                  <a:srgbClr val="9AA7C2"/>
                </a:solidFill>
              </a:rPr>
              <a:t>01 / 02</a:t>
            </a:r>
          </a:p>
        </p:txBody>
      </p:sp>
    </p:spTree>
    <p:extLst>
      <p:ext uri="{BB962C8B-B14F-4D97-AF65-F5344CB8AC3E}">
        <p14:creationId xmlns:p14="http://schemas.microsoft.com/office/powerpoint/2010/main" val="2390218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E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project-label-2">
            <a:extLst xmlns:a="http://schemas.openxmlformats.org/drawingml/2006/main">
              <a:ext uri="{FF2B5EF4-FFF2-40B4-BE49-F238E27FC236}">
                <a16:creationId xmlns:a16="http://schemas.microsoft.com/office/drawing/2014/main" id="{06033003-230B-4228-B515-8F50303F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F195"/>
                </a:solidFill>
              </a:defRPr>
            </a:pPr>
            <a:r>
              <a:rPr sz="1200" b="1">
                <a:solidFill>
                  <a:srgbClr val="14F195"/>
                </a:solidFill>
              </a:rPr>
              <a:t>DEMONSTRATED MVP</a:t>
            </a:r>
          </a:p>
        </p:txBody>
      </p:sp>
      <p:sp>
        <p:nvSpPr>
          <p:cNvPr id="2" name="headline-2">
            <a:extLst xmlns:a="http://schemas.openxmlformats.org/drawingml/2006/main">
              <a:ext uri="{FF2B5EF4-FFF2-40B4-BE49-F238E27FC236}">
                <a16:creationId xmlns:a16="http://schemas.microsoft.com/office/drawing/2014/main" id="{CC772BCD-51E1-4077-80F5-B2A6387E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34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E8EDF7"/>
                </a:solidFill>
              </a:defRPr>
            </a:pPr>
            <a:r>
              <a:rPr sz="4200" b="1">
                <a:solidFill>
                  <a:srgbClr val="E8EDF7"/>
                </a:solidFill>
              </a:rPr>
              <a:t>The devnet MVP proves settlement, recovery and failure boundaries.</a:t>
            </a:r>
          </a:p>
        </p:txBody>
      </p:sp>
      <p:sp>
        <p:nvSpPr>
          <p:cNvPr id="3" name="proof-kicker">
            <a:extLst xmlns:a="http://schemas.openxmlformats.org/drawingml/2006/main">
              <a:ext uri="{FF2B5EF4-FFF2-40B4-BE49-F238E27FC236}">
                <a16:creationId xmlns:a16="http://schemas.microsoft.com/office/drawing/2014/main" id="{5DEBF3B5-6326-4B0A-B794-AE0D7596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A7C2"/>
                </a:solidFill>
              </a:defRPr>
            </a:pPr>
            <a:r>
              <a:rPr sz="1125" b="1">
                <a:solidFill>
                  <a:srgbClr val="9AA7C2"/>
                </a:solidFill>
              </a:rPr>
              <a:t>ONE CANONICAL RUN · 16 TERMINAL EVENTS</a:t>
            </a:r>
          </a:p>
        </p:txBody>
      </p:sp>
      <p:sp>
        <p:nvSpPr>
          <p:cNvPr id="4" name="metric-value-12">
            <a:extLst xmlns:a="http://schemas.openxmlformats.org/drawingml/2006/main">
              <a:ext uri="{FF2B5EF4-FFF2-40B4-BE49-F238E27FC236}">
                <a16:creationId xmlns:a16="http://schemas.microsoft.com/office/drawing/2014/main" id="{8D0DF01A-F646-42E6-842D-B6914AFA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22C55E"/>
                </a:solidFill>
              </a:defRPr>
            </a:pPr>
            <a:r>
              <a:rPr sz="4800" b="1">
                <a:solidFill>
                  <a:srgbClr val="22C55E"/>
                </a:solidFill>
              </a:rPr>
              <a:t>12</a:t>
            </a:r>
          </a:p>
        </p:txBody>
      </p:sp>
      <p:sp>
        <p:nvSpPr>
          <p:cNvPr id="5" name="metric-label-12">
            <a:extLst xmlns:a="http://schemas.openxmlformats.org/drawingml/2006/main">
              <a:ext uri="{FF2B5EF4-FFF2-40B4-BE49-F238E27FC236}">
                <a16:creationId xmlns:a16="http://schemas.microsoft.com/office/drawing/2014/main" id="{242E7A46-5739-4015-A250-3C9AE81F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8EDF7"/>
                </a:solidFill>
              </a:defRPr>
            </a:pPr>
            <a:r>
              <a:rPr sz="1425" b="1">
                <a:solidFill>
                  <a:srgbClr val="E8EDF7"/>
                </a:solidFill>
              </a:rPr>
              <a:t>finalized SEND</a:t>
            </a:r>
          </a:p>
        </p:txBody>
      </p:sp>
      <p:sp>
        <p:nvSpPr>
          <p:cNvPr id="6" name="metric-value-3">
            <a:extLst xmlns:a="http://schemas.openxmlformats.org/drawingml/2006/main">
              <a:ext uri="{FF2B5EF4-FFF2-40B4-BE49-F238E27FC236}">
                <a16:creationId xmlns:a16="http://schemas.microsoft.com/office/drawing/2014/main" id="{5557B2F5-E141-4C99-8C9E-85BA956F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860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5A524"/>
                </a:solidFill>
              </a:defRPr>
            </a:pPr>
            <a:r>
              <a:rPr sz="4800" b="1">
                <a:solidFill>
                  <a:srgbClr val="F5A524"/>
                </a:solidFill>
              </a:rPr>
              <a:t>3</a:t>
            </a:r>
          </a:p>
        </p:txBody>
      </p:sp>
      <p:sp>
        <p:nvSpPr>
          <p:cNvPr id="7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7E8C9DC9-A956-404E-BDC9-DC54E7FA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62275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8EDF7"/>
                </a:solidFill>
              </a:defRPr>
            </a:pPr>
            <a:r>
              <a:rPr sz="1425" b="1">
                <a:solidFill>
                  <a:srgbClr val="E8EDF7"/>
                </a:solidFill>
              </a:rPr>
              <a:t>read-only SIMULATE</a:t>
            </a:r>
          </a:p>
        </p:txBody>
      </p:sp>
      <p:sp>
        <p:nvSpPr>
          <p:cNvPr id="8" name="metric-value-1">
            <a:extLst xmlns:a="http://schemas.openxmlformats.org/drawingml/2006/main">
              <a:ext uri="{FF2B5EF4-FFF2-40B4-BE49-F238E27FC236}">
                <a16:creationId xmlns:a16="http://schemas.microsoft.com/office/drawing/2014/main" id="{C55B2A99-DABB-4776-87F7-FDB9C3EF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860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9945FF"/>
                </a:solidFill>
              </a:defRPr>
            </a:pPr>
            <a:r>
              <a:rPr sz="4800" b="1">
                <a:solidFill>
                  <a:srgbClr val="9945FF"/>
                </a:solidFill>
              </a:rPr>
              <a:t>1</a:t>
            </a:r>
          </a:p>
        </p:txBody>
      </p:sp>
      <p:sp>
        <p:nvSpPr>
          <p:cNvPr id="9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2E7182AA-B038-46FD-8C51-932307B5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62275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8EDF7"/>
                </a:solidFill>
              </a:defRPr>
            </a:pPr>
            <a:r>
              <a:rPr sz="1425" b="1">
                <a:solidFill>
                  <a:srgbClr val="E8EDF7"/>
                </a:solidFill>
              </a:rPr>
              <a:t>bounded WAIT</a:t>
            </a:r>
          </a:p>
        </p:txBody>
      </p:sp>
      <p:sp>
        <p:nvSpPr>
          <p:cNvPr id="10" name="accounting-surface">
            <a:extLst xmlns:a="http://schemas.openxmlformats.org/drawingml/2006/main">
              <a:ext uri="{FF2B5EF4-FFF2-40B4-BE49-F238E27FC236}">
                <a16:creationId xmlns:a16="http://schemas.microsoft.com/office/drawing/2014/main" id="{5BD20EE5-0774-4AA4-821F-18EE0AD2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5619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11726"/>
          </a:solidFill>
          <a:ln xmlns:a="http://schemas.openxmlformats.org/drawingml/2006/main" w="9525">
            <a:solidFill>
              <a:srgbClr val="29334A"/>
            </a:solidFill>
            <a:prstDash val="solid"/>
          </a:ln>
        </p:spPr>
      </p:sp>
      <p:sp>
        <p:nvSpPr>
          <p:cNvPr id="11" name="accounting-title">
            <a:extLst xmlns:a="http://schemas.openxmlformats.org/drawingml/2006/main">
              <a:ext uri="{FF2B5EF4-FFF2-40B4-BE49-F238E27FC236}">
                <a16:creationId xmlns:a16="http://schemas.microsoft.com/office/drawing/2014/main" id="{4E5A52CC-7322-415C-8811-30D40FE1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8EDF7"/>
                </a:solidFill>
              </a:defRPr>
            </a:pPr>
            <a:r>
              <a:rPr sz="2100" b="1">
                <a:solidFill>
                  <a:srgbClr val="E8EDF7"/>
                </a:solidFill>
              </a:rPr>
              <a:t>Final accounting reconciles</a:t>
            </a:r>
          </a:p>
        </p:txBody>
      </p:sp>
      <p:sp>
        <p:nvSpPr>
          <p:cNvPr id="12" name="accounting-equation">
            <a:extLst xmlns:a="http://schemas.openxmlformats.org/drawingml/2006/main">
              <a:ext uri="{FF2B5EF4-FFF2-40B4-BE49-F238E27FC236}">
                <a16:creationId xmlns:a16="http://schemas.microsoft.com/office/drawing/2014/main" id="{B0DECF24-04CB-42A9-B433-CC127FD3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24325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F195"/>
                </a:solidFill>
              </a:defRPr>
            </a:pPr>
            <a:r>
              <a:rPr sz="1500" b="1">
                <a:solidFill>
                  <a:srgbClr val="14F195"/>
                </a:solidFill>
              </a:rPr>
              <a:t>3,000,000 minted = 1,000,000 contributor + 2,000,000 sponsor</a:t>
            </a:r>
          </a:p>
        </p:txBody>
      </p:sp>
      <p:sp>
        <p:nvSpPr>
          <p:cNvPr id="13" name="vault-note">
            <a:extLst xmlns:a="http://schemas.openxmlformats.org/drawingml/2006/main">
              <a:ext uri="{FF2B5EF4-FFF2-40B4-BE49-F238E27FC236}">
                <a16:creationId xmlns:a16="http://schemas.microsoft.com/office/drawing/2014/main" id="{6AD6B99B-81B4-43F9-B183-E9BFFEE1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C2"/>
                </a:solidFill>
              </a:defRPr>
            </a:pPr>
            <a:r>
              <a:rPr sz="1575" b="0">
                <a:solidFill>
                  <a:srgbClr val="9AA7C2"/>
                </a:solidFill>
              </a:rPr>
              <a:t>Recorded vault principal reaches zero.</a:t>
            </a:r>
          </a:p>
        </p:txBody>
      </p:sp>
      <p:sp>
        <p:nvSpPr>
          <p:cNvPr id="14" name="direction-accent">
            <a:extLst xmlns:a="http://schemas.openxmlformats.org/drawingml/2006/main">
              <a:ext uri="{FF2B5EF4-FFF2-40B4-BE49-F238E27FC236}">
                <a16:creationId xmlns:a16="http://schemas.microsoft.com/office/drawing/2014/main" id="{59C5BA3D-05B7-4634-B2C2-411752A5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7625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45FF"/>
          </a:solidFill>
          <a:ln xmlns:a="http://schemas.openxmlformats.org/drawingml/2006/main" w="0">
            <a:solidFill>
              <a:srgbClr val="9945FF"/>
            </a:solidFill>
            <a:prstDash val="solid"/>
          </a:ln>
        </p:spPr>
      </p:sp>
      <p:sp>
        <p:nvSpPr>
          <p:cNvPr id="15" name="direction-title">
            <a:extLst xmlns:a="http://schemas.openxmlformats.org/drawingml/2006/main">
              <a:ext uri="{FF2B5EF4-FFF2-40B4-BE49-F238E27FC236}">
                <a16:creationId xmlns:a16="http://schemas.microsoft.com/office/drawing/2014/main" id="{32C7E521-0073-4192-8388-EB8B7C7D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000250"/>
            <a:ext cx="4400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8EDF7"/>
                </a:solidFill>
              </a:defRPr>
            </a:pPr>
            <a:r>
              <a:rPr sz="2850" b="1">
                <a:solidFill>
                  <a:srgbClr val="E8EDF7"/>
                </a:solidFill>
              </a:rPr>
              <a:t>Turn the primitive into a workflow.</a:t>
            </a:r>
          </a:p>
        </p:txBody>
      </p:sp>
      <p:sp>
        <p:nvSpPr>
          <p:cNvPr id="16" name="direction-body">
            <a:extLst xmlns:a="http://schemas.openxmlformats.org/drawingml/2006/main">
              <a:ext uri="{FF2B5EF4-FFF2-40B4-BE49-F238E27FC236}">
                <a16:creationId xmlns:a16="http://schemas.microsoft.com/office/drawing/2014/main" id="{63596143-298D-4157-B685-C1044265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86075"/>
            <a:ext cx="4286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AA7C2"/>
                </a:solidFill>
              </a:defRPr>
            </a:pPr>
            <a:r>
              <a:rPr sz="1725" b="0">
                <a:solidFill>
                  <a:srgbClr val="9AA7C2"/>
                </a:solidFill>
              </a:rPr>
              <a:t>Connect escrow identity and status to repository, issue and pull-request workflows—while retaining explicit maintainer-authorized release.</a:t>
            </a:r>
          </a:p>
        </p:txBody>
      </p:sp>
      <p:sp>
        <p:nvSpPr>
          <p:cNvPr id="17" name="limits-title">
            <a:extLst xmlns:a="http://schemas.openxmlformats.org/drawingml/2006/main">
              <a:ext uri="{FF2B5EF4-FFF2-40B4-BE49-F238E27FC236}">
                <a16:creationId xmlns:a16="http://schemas.microsoft.com/office/drawing/2014/main" id="{FF427A50-9B49-4566-8E0B-B0DE73D7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1719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A524"/>
                </a:solidFill>
              </a:defRPr>
            </a:pPr>
            <a:r>
              <a:rPr sz="2100" b="1">
                <a:solidFill>
                  <a:srgbClr val="F5A524"/>
                </a:solidFill>
              </a:rPr>
              <a:t>Honest limits</a:t>
            </a:r>
          </a:p>
        </p:txBody>
      </p:sp>
      <p:sp>
        <p:nvSpPr>
          <p:cNvPr id="18" name="limits-body">
            <a:extLst xmlns:a="http://schemas.openxmlformats.org/drawingml/2006/main">
              <a:ext uri="{FF2B5EF4-FFF2-40B4-BE49-F238E27FC236}">
                <a16:creationId xmlns:a16="http://schemas.microsoft.com/office/drawing/2014/main" id="{83569310-5509-4FC3-8488-ACBFA5E9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572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AA7C2"/>
                </a:solidFill>
              </a:defRPr>
            </a:pPr>
            <a:r>
              <a:rPr sz="1500" b="0">
                <a:solidFill>
                  <a:srgbClr val="9AA7C2"/>
                </a:solidFill>
              </a:rPr>
              <a:t>Unaudited · devnet/test tokens only · no dispute resolution · no persistence/recovery · no production operations</a:t>
            </a:r>
          </a:p>
        </p:txBody>
      </p:sp>
      <p:sp>
        <p:nvSpPr>
          <p:cNvPr id="19" name="local-placeholder">
            <a:extLst xmlns:a="http://schemas.openxmlformats.org/drawingml/2006/main">
              <a:ext uri="{FF2B5EF4-FFF2-40B4-BE49-F238E27FC236}">
                <a16:creationId xmlns:a16="http://schemas.microsoft.com/office/drawing/2014/main" id="{225FD705-AEFB-4E75-9857-AFC8376D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476875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A7C2"/>
                </a:solidFill>
              </a:defRPr>
            </a:pPr>
            <a:r>
              <a:rPr sz="1200" b="1">
                <a:solidFill>
                  <a:srgbClr val="9AA7C2"/>
                </a:solidFill>
              </a:rPr>
              <a:t>Public reviewer URL added after publication authorization</a:t>
            </a:r>
          </a:p>
        </p:txBody>
      </p:sp>
      <p:sp>
        <p:nvSpPr>
          <p:cNvPr id="20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E1D5DC0-3492-4328-B973-74A3C5DB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334A"/>
          </a:solidFill>
          <a:ln xmlns:a="http://schemas.openxmlformats.org/drawingml/2006/main" w="0">
            <a:solidFill>
              <a:srgbClr val="29334A"/>
            </a:solidFill>
            <a:prstDash val="solid"/>
          </a:ln>
        </p:spPr>
      </p:sp>
      <p:sp>
        <p:nvSpPr>
          <p:cNvPr id="21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A9FE0B21-46C8-49DE-AC55-A282D6FC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A7C2"/>
                </a:solidFill>
              </a:defRPr>
            </a:pPr>
            <a:r>
              <a:rPr sz="1050" b="1">
                <a:solidFill>
                  <a:srgbClr val="9AA7C2"/>
                </a:solidFill>
              </a:rPr>
              <a:t>OSS BOUNTY ESCROW · SOLANA DEVNET</a:t>
            </a:r>
          </a:p>
        </p:txBody>
      </p:sp>
      <p:sp>
        <p:nvSpPr>
          <p:cNvPr id="22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9D1E6E9B-1FE1-4F34-B6BF-E741FC87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9AA7C2"/>
                </a:solidFill>
              </a:defRPr>
            </a:pPr>
            <a:r>
              <a:rPr sz="1050" b="1">
                <a:solidFill>
                  <a:srgbClr val="9AA7C2"/>
                </a:solidFill>
              </a:rPr>
              <a:t>02 / 02</a:t>
            </a:r>
          </a:p>
        </p:txBody>
      </p:sp>
    </p:spTree>
    <p:extLst>
      <p:ext uri="{BB962C8B-B14F-4D97-AF65-F5344CB8AC3E}">
        <p14:creationId xmlns:p14="http://schemas.microsoft.com/office/powerpoint/2010/main" val="8396198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2026-07-30T03:42:10.5910000Z</dcterms:created>
  <dcterms:modified xsi:type="dcterms:W3CDTF">2026-07-30T03:42:10.5910000Z</dcterms:modified>
</coreProperties>
</file>