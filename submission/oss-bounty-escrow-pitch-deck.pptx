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c36db46b4c42b7" /><Relationship Type="http://schemas.openxmlformats.org/officeDocument/2006/relationships/extended-properties" Target="/docProps/app.xml" Id="R677fe87c1ea44b81" /><Relationship Type="http://schemas.openxmlformats.org/officeDocument/2006/relationships/officeDocument" Target="/ppt/presentation.xml" Id="Rc7ce7e1be6e749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873cf4a0ce4945"/>
  </p:sldMasterIdLst>
  <p:notesMasterIdLst>
    <p:notesMasterId xmlns:r="http://schemas.openxmlformats.org/officeDocument/2006/relationships" r:id="R0b5c97648ba14495"/>
  </p:notesMasterIdLst>
  <p:sldIdLst>
    <p:sldId xmlns:r="http://schemas.openxmlformats.org/officeDocument/2006/relationships" id="256" r:id="Rf1d1a90cc9c64060"/>
    <p:sldId xmlns:r="http://schemas.openxmlformats.org/officeDocument/2006/relationships" id="257" r:id="R2e547e704ba34b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8f2fd4fe044000" /><Relationship Type="http://schemas.openxmlformats.org/officeDocument/2006/relationships/slideMaster" Target="/ppt/slideMasters/slideMaster1.xml" Id="R7c873cf4a0ce4945" /><Relationship Type="http://schemas.openxmlformats.org/officeDocument/2006/relationships/notesMaster" Target="/ppt/notesMasters/notesMaster1.xml" Id="R0b5c97648ba14495" /><Relationship Type="http://schemas.openxmlformats.org/officeDocument/2006/relationships/presProps" Target="/ppt/presProps.xml" Id="R2ef8e5e284bf4f9a" /><Relationship Type="http://schemas.openxmlformats.org/officeDocument/2006/relationships/tableStyles" Target="/ppt/tableStyles.xml" Id="Rd08e8654867a44f2" /><Relationship Type="http://schemas.openxmlformats.org/officeDocument/2006/relationships/slide" Target="/ppt/slides/slide1.xml" Id="Rf1d1a90cc9c64060" /><Relationship Type="http://schemas.openxmlformats.org/officeDocument/2006/relationships/slide" Target="/ppt/slides/slide2.xml" Id="R2e547e704ba34b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e870b413474c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4616335f0b4629" /><Relationship Type="http://schemas.openxmlformats.org/officeDocument/2006/relationships/notesMaster" Target="/ppt/notesMasters/notesMaster1.xml" Id="R648d7e38c07e44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480cb75f4a454b" /><Relationship Type="http://schemas.openxmlformats.org/officeDocument/2006/relationships/notesMaster" Target="/ppt/notesMasters/notesMaster1.xml" Id="Re721f2147e264c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program source: programs/oss-bounty-escrow/src/lib.rs and rules.rs</a:t>
            </a:r>
          </a:p>
          <a:p xmlns:a="http://schemas.openxmlformats.org/drawingml/2006/main">
            <a:r>
              <a:t>- Reviewed workflow documentation: docs/BUSINESS_FLOW_RUNNER.md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docs/evidence/evidence-manifest.json</a:t>
            </a:r>
          </a:p>
          <a:p xmlns:a="http://schemas.openxmlformats.org/drawingml/2006/main">
            <a:r>
              <a:t>- docs/evidence/LIVE_VERIFICATION_REPORT.md</a:t>
            </a:r>
          </a:p>
          <a:p xmlns:a="http://schemas.openxmlformats.org/drawingml/2006/main">
            <a:r>
              <a:t>- docs/evidence/EXPLORER_INDEX.md</a:t>
            </a:r>
          </a:p>
          <a:p xmlns:a="http://schemas.openxmlformats.org/drawingml/2006/main">
            <a:r>
              <a:t>- Repository program source: programs/oss-bounty-escrow/src/lib.rs and rules.rs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beedf3050842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33e9c9943b44dc" /><Relationship Type="http://schemas.openxmlformats.org/officeDocument/2006/relationships/slideLayout" Target="/ppt/slideLayouts/slideLayout1.xml" Id="R807e235a84f44a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7e235a84f44a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f491055d049f9" /><Relationship Type="http://schemas.openxmlformats.org/officeDocument/2006/relationships/notesSlide" Target="/ppt/notesSlides/notesSlide1.xml" Id="Rfdbc973ec22945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42703dab0494a" /><Relationship Type="http://schemas.openxmlformats.org/officeDocument/2006/relationships/notesSlide" Target="/ppt/notesSlides/notesSlide2.xml" Id="R3c900740087040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roject-label">
            <a:extLst xmlns:a="http://schemas.openxmlformats.org/drawingml/2006/main">
              <a:ext uri="{FF2B5EF4-FFF2-40B4-BE49-F238E27FC236}">
                <a16:creationId xmlns:a16="http://schemas.microsoft.com/office/drawing/2014/main" id="{30D0BDC2-F4A4-4022-8A89-6545903D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F195"/>
                </a:solidFill>
              </a:defRPr>
            </a:pPr>
            <a:r>
              <a:rPr sz="1200" b="1">
                <a:solidFill>
                  <a:srgbClr val="14F195"/>
                </a:solidFill>
              </a:rPr>
              <a:t>OSS BOUNTY ESCROW ON SOLANA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A1DBCE64-CB2F-483E-8856-E8579A39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E8EDF7"/>
                </a:solidFill>
              </a:defRPr>
            </a:pPr>
            <a:r>
              <a:rPr sz="4200" b="1">
                <a:solidFill>
                  <a:srgbClr val="E8EDF7"/>
                </a:solidFill>
              </a:rPr>
              <a:t>Bounty funding should be verifiable before work begins.</a:t>
            </a:r>
          </a:p>
        </p:txBody>
      </p:sp>
      <p:sp>
        <p:nvSpPr>
          <p:cNvPr id="3" name="proposition">
            <a:extLst xmlns:a="http://schemas.openxmlformats.org/drawingml/2006/main">
              <a:ext uri="{FF2B5EF4-FFF2-40B4-BE49-F238E27FC236}">
                <a16:creationId xmlns:a16="http://schemas.microsoft.com/office/drawing/2014/main" id="{F3E3D3B1-DC2A-42B0-938E-867E37E0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AA7C2"/>
                </a:solidFill>
              </a:defRPr>
            </a:pPr>
            <a:r>
              <a:rPr sz="1725" b="0">
                <a:solidFill>
                  <a:srgbClr val="9AA7C2"/>
                </a:solidFill>
              </a:rPr>
              <a:t>A sponsor locks the promised test-token reward before work. A maintainer releases it when work is accepted—or the sponsor recovers it after expiry.</a:t>
            </a:r>
          </a:p>
        </p:txBody>
      </p:sp>
      <p:sp>
        <p:nvSpPr>
          <p:cNvPr id="4" name="flow-line-1">
            <a:extLst xmlns:a="http://schemas.openxmlformats.org/drawingml/2006/main">
              <a:ext uri="{FF2B5EF4-FFF2-40B4-BE49-F238E27FC236}">
                <a16:creationId xmlns:a16="http://schemas.microsoft.com/office/drawing/2014/main" id="{8CB09C02-DD3C-4392-BE02-F32B3700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4099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45FF"/>
          </a:solidFill>
          <a:ln xmlns:a="http://schemas.openxmlformats.org/drawingml/2006/main" w="0">
            <a:solidFill>
              <a:srgbClr val="9945FF"/>
            </a:solidFill>
            <a:prstDash val="solid"/>
          </a:ln>
        </p:spPr>
      </p:sp>
      <p:sp>
        <p:nvSpPr>
          <p:cNvPr id="5" name="flow-line-2">
            <a:extLst xmlns:a="http://schemas.openxmlformats.org/drawingml/2006/main">
              <a:ext uri="{FF2B5EF4-FFF2-40B4-BE49-F238E27FC236}">
                <a16:creationId xmlns:a16="http://schemas.microsoft.com/office/drawing/2014/main" id="{A71A64BD-454F-432A-9365-1ED77696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099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F195"/>
          </a:solidFill>
          <a:ln xmlns:a="http://schemas.openxmlformats.org/drawingml/2006/main" w="0">
            <a:solidFill>
              <a:srgbClr val="14F195"/>
            </a:solidFill>
            <a:prstDash val="solid"/>
          </a:ln>
        </p:spPr>
      </p:sp>
      <p:sp>
        <p:nvSpPr>
          <p:cNvPr id="6" name="flow-line-3">
            <a:extLst xmlns:a="http://schemas.openxmlformats.org/drawingml/2006/main">
              <a:ext uri="{FF2B5EF4-FFF2-40B4-BE49-F238E27FC236}">
                <a16:creationId xmlns:a16="http://schemas.microsoft.com/office/drawing/2014/main" id="{9E1EC2AF-BB02-4E41-8CA4-4AF004E6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4099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F195"/>
          </a:solidFill>
          <a:ln xmlns:a="http://schemas.openxmlformats.org/drawingml/2006/main" w="0">
            <a:solidFill>
              <a:srgbClr val="14F195"/>
            </a:solidFill>
            <a:prstDash val="solid"/>
          </a:ln>
        </p:spPr>
      </p:sp>
      <p:sp>
        <p:nvSpPr>
          <p:cNvPr id="7" name="flow-line-4">
            <a:extLst xmlns:a="http://schemas.openxmlformats.org/drawingml/2006/main">
              <a:ext uri="{FF2B5EF4-FFF2-40B4-BE49-F238E27FC236}">
                <a16:creationId xmlns:a16="http://schemas.microsoft.com/office/drawing/2014/main" id="{F2D796B1-B5FF-48AB-8CC7-ABD7A40D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4099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8" name="node-01">
            <a:extLst xmlns:a="http://schemas.openxmlformats.org/drawingml/2006/main">
              <a:ext uri="{FF2B5EF4-FFF2-40B4-BE49-F238E27FC236}">
                <a16:creationId xmlns:a16="http://schemas.microsoft.com/office/drawing/2014/main" id="{5DD93126-FE21-4B64-9CD5-E4F23E66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943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726"/>
          </a:solidFill>
          <a:ln xmlns:a="http://schemas.openxmlformats.org/drawingml/2006/main" w="19050">
            <a:solidFill>
              <a:srgbClr val="9945FF"/>
            </a:solidFill>
            <a:prstDash val="solid"/>
          </a:ln>
        </p:spPr>
      </p:sp>
      <p:sp>
        <p:nvSpPr>
          <p:cNvPr id="9" name="node-index-01">
            <a:extLst xmlns:a="http://schemas.openxmlformats.org/drawingml/2006/main">
              <a:ext uri="{FF2B5EF4-FFF2-40B4-BE49-F238E27FC236}">
                <a16:creationId xmlns:a16="http://schemas.microsoft.com/office/drawing/2014/main" id="{5FF49BAD-E200-4527-944B-60FE520A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945FF"/>
                </a:solidFill>
              </a:defRPr>
            </a:pPr>
            <a:r>
              <a:rPr sz="1200" b="1">
                <a:solidFill>
                  <a:srgbClr val="9945FF"/>
                </a:solidFill>
              </a:rPr>
              <a:t>01</a:t>
            </a:r>
          </a:p>
        </p:txBody>
      </p:sp>
      <p:sp>
        <p:nvSpPr>
          <p:cNvPr id="10" name="node-label-01">
            <a:extLst xmlns:a="http://schemas.openxmlformats.org/drawingml/2006/main">
              <a:ext uri="{FF2B5EF4-FFF2-40B4-BE49-F238E27FC236}">
                <a16:creationId xmlns:a16="http://schemas.microsoft.com/office/drawing/2014/main" id="{D2198E3B-B084-414D-8B6C-981DBC33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623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EDF7"/>
                </a:solidFill>
              </a:defRPr>
            </a:pPr>
            <a:r>
              <a:rPr sz="1650" b="1">
                <a:solidFill>
                  <a:srgbClr val="E8EDF7"/>
                </a:solidFill>
              </a:rPr>
              <a:t>Define bounty</a:t>
            </a:r>
          </a:p>
        </p:txBody>
      </p:sp>
      <p:sp>
        <p:nvSpPr>
          <p:cNvPr id="11" name="node-02">
            <a:extLst xmlns:a="http://schemas.openxmlformats.org/drawingml/2006/main">
              <a:ext uri="{FF2B5EF4-FFF2-40B4-BE49-F238E27FC236}">
                <a16:creationId xmlns:a16="http://schemas.microsoft.com/office/drawing/2014/main" id="{AD4EA49F-F15B-4ECB-B6D1-3BC89B3D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52750"/>
            <a:ext cx="1943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726"/>
          </a:solidFill>
          <a:ln xmlns:a="http://schemas.openxmlformats.org/drawingml/2006/main" w="19050">
            <a:solidFill>
              <a:srgbClr val="14F195"/>
            </a:solidFill>
            <a:prstDash val="solid"/>
          </a:ln>
        </p:spPr>
      </p:sp>
      <p:sp>
        <p:nvSpPr>
          <p:cNvPr id="12" name="node-index-02">
            <a:extLst xmlns:a="http://schemas.openxmlformats.org/drawingml/2006/main">
              <a:ext uri="{FF2B5EF4-FFF2-40B4-BE49-F238E27FC236}">
                <a16:creationId xmlns:a16="http://schemas.microsoft.com/office/drawing/2014/main" id="{40F87749-78CE-4402-8E94-0053D9E3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051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F195"/>
                </a:solidFill>
              </a:defRPr>
            </a:pPr>
            <a:r>
              <a:rPr sz="1200" b="1">
                <a:solidFill>
                  <a:srgbClr val="14F195"/>
                </a:solidFill>
              </a:rPr>
              <a:t>02</a:t>
            </a:r>
          </a:p>
        </p:txBody>
      </p:sp>
      <p:sp>
        <p:nvSpPr>
          <p:cNvPr id="13" name="node-label-02">
            <a:extLst xmlns:a="http://schemas.openxmlformats.org/drawingml/2006/main">
              <a:ext uri="{FF2B5EF4-FFF2-40B4-BE49-F238E27FC236}">
                <a16:creationId xmlns:a16="http://schemas.microsoft.com/office/drawing/2014/main" id="{C30449E3-E0A5-4E54-8763-26ACD718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623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EDF7"/>
                </a:solidFill>
              </a:defRPr>
            </a:pPr>
            <a:r>
              <a:rPr sz="1650" b="1">
                <a:solidFill>
                  <a:srgbClr val="E8EDF7"/>
                </a:solidFill>
              </a:rPr>
              <a:t>Fund escrow</a:t>
            </a:r>
          </a:p>
        </p:txBody>
      </p:sp>
      <p:sp>
        <p:nvSpPr>
          <p:cNvPr id="14" name="node-03">
            <a:extLst xmlns:a="http://schemas.openxmlformats.org/drawingml/2006/main">
              <a:ext uri="{FF2B5EF4-FFF2-40B4-BE49-F238E27FC236}">
                <a16:creationId xmlns:a16="http://schemas.microsoft.com/office/drawing/2014/main" id="{9A03B509-CDB7-4B96-B5E4-B72B2B6A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1943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726"/>
          </a:solidFill>
          <a:ln xmlns:a="http://schemas.openxmlformats.org/drawingml/2006/main" w="19050">
            <a:solidFill>
              <a:srgbClr val="14F195"/>
            </a:solidFill>
            <a:prstDash val="solid"/>
          </a:ln>
        </p:spPr>
      </p:sp>
      <p:sp>
        <p:nvSpPr>
          <p:cNvPr id="15" name="node-index-03">
            <a:extLst xmlns:a="http://schemas.openxmlformats.org/drawingml/2006/main">
              <a:ext uri="{FF2B5EF4-FFF2-40B4-BE49-F238E27FC236}">
                <a16:creationId xmlns:a16="http://schemas.microsoft.com/office/drawing/2014/main" id="{37B7CE3A-5E9D-4ECD-8ED1-2607AF5D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051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F195"/>
                </a:solidFill>
              </a:defRPr>
            </a:pPr>
            <a:r>
              <a:rPr sz="1200" b="1">
                <a:solidFill>
                  <a:srgbClr val="14F195"/>
                </a:solidFill>
              </a:rPr>
              <a:t>03</a:t>
            </a:r>
          </a:p>
        </p:txBody>
      </p:sp>
      <p:sp>
        <p:nvSpPr>
          <p:cNvPr id="16" name="node-label-03">
            <a:extLst xmlns:a="http://schemas.openxmlformats.org/drawingml/2006/main">
              <a:ext uri="{FF2B5EF4-FFF2-40B4-BE49-F238E27FC236}">
                <a16:creationId xmlns:a16="http://schemas.microsoft.com/office/drawing/2014/main" id="{5820B681-CB41-420A-8FC8-65868FDD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623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EDF7"/>
                </a:solidFill>
              </a:defRPr>
            </a:pPr>
            <a:r>
              <a:rPr sz="1500" b="1">
                <a:solidFill>
                  <a:srgbClr val="E8EDF7"/>
                </a:solidFill>
              </a:rPr>
              <a:t>Human accepts work</a:t>
            </a:r>
          </a:p>
        </p:txBody>
      </p:sp>
      <p:sp>
        <p:nvSpPr>
          <p:cNvPr id="17" name="node-04">
            <a:extLst xmlns:a="http://schemas.openxmlformats.org/drawingml/2006/main">
              <a:ext uri="{FF2B5EF4-FFF2-40B4-BE49-F238E27FC236}">
                <a16:creationId xmlns:a16="http://schemas.microsoft.com/office/drawing/2014/main" id="{8DF42D0F-2338-4877-82C4-6402C082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52750"/>
            <a:ext cx="1943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726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8" name="node-index-04">
            <a:extLst xmlns:a="http://schemas.openxmlformats.org/drawingml/2006/main">
              <a:ext uri="{FF2B5EF4-FFF2-40B4-BE49-F238E27FC236}">
                <a16:creationId xmlns:a16="http://schemas.microsoft.com/office/drawing/2014/main" id="{AB673C04-013F-4D18-AA7C-F7137227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051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C55E"/>
                </a:solidFill>
              </a:defRPr>
            </a:pPr>
            <a:r>
              <a:rPr sz="1200" b="1">
                <a:solidFill>
                  <a:srgbClr val="22C55E"/>
                </a:solidFill>
              </a:rPr>
              <a:t>04</a:t>
            </a:r>
          </a:p>
        </p:txBody>
      </p:sp>
      <p:sp>
        <p:nvSpPr>
          <p:cNvPr id="19" name="node-label-04">
            <a:extLst xmlns:a="http://schemas.openxmlformats.org/drawingml/2006/main">
              <a:ext uri="{FF2B5EF4-FFF2-40B4-BE49-F238E27FC236}">
                <a16:creationId xmlns:a16="http://schemas.microsoft.com/office/drawing/2014/main" id="{B6BDAF76-9614-47B1-9C0B-536E3075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623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EDF7"/>
                </a:solidFill>
              </a:defRPr>
            </a:pPr>
            <a:r>
              <a:rPr sz="1500" b="1">
                <a:solidFill>
                  <a:srgbClr val="E8EDF7"/>
                </a:solidFill>
              </a:rPr>
              <a:t>Release to contributor</a:t>
            </a:r>
          </a:p>
        </p:txBody>
      </p:sp>
      <p:sp>
        <p:nvSpPr>
          <p:cNvPr id="20" name="cancel-node">
            <a:extLst xmlns:a="http://schemas.openxmlformats.org/drawingml/2006/main">
              <a:ext uri="{FF2B5EF4-FFF2-40B4-BE49-F238E27FC236}">
                <a16:creationId xmlns:a16="http://schemas.microsoft.com/office/drawing/2014/main" id="{F38B1896-C4D0-4A57-AAF2-241DFDFF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3238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726"/>
          </a:solidFill>
          <a:ln xmlns:a="http://schemas.openxmlformats.org/drawingml/2006/main" w="19050">
            <a:solidFill>
              <a:srgbClr val="9945FF"/>
            </a:solidFill>
            <a:prstDash val="solid"/>
          </a:ln>
        </p:spPr>
      </p:sp>
      <p:sp>
        <p:nvSpPr>
          <p:cNvPr id="21" name="cancel-label">
            <a:extLst xmlns:a="http://schemas.openxmlformats.org/drawingml/2006/main">
              <a:ext uri="{FF2B5EF4-FFF2-40B4-BE49-F238E27FC236}">
                <a16:creationId xmlns:a16="http://schemas.microsoft.com/office/drawing/2014/main" id="{93BDCE29-9652-4DE9-9A4D-C260D92C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945FF"/>
                </a:solidFill>
              </a:defRPr>
            </a:pPr>
            <a:r>
              <a:rPr sz="1350" b="1">
                <a:solidFill>
                  <a:srgbClr val="9945FF"/>
                </a:solidFill>
              </a:rPr>
              <a:t>Before funding → sponsor cancels</a:t>
            </a:r>
          </a:p>
        </p:txBody>
      </p:sp>
      <p:sp>
        <p:nvSpPr>
          <p:cNvPr id="22" name="refund-node">
            <a:extLst xmlns:a="http://schemas.openxmlformats.org/drawingml/2006/main">
              <a:ext uri="{FF2B5EF4-FFF2-40B4-BE49-F238E27FC236}">
                <a16:creationId xmlns:a16="http://schemas.microsoft.com/office/drawing/2014/main" id="{8EA24E4D-6E4D-4366-A3AE-A6777F18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3238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726"/>
          </a:solidFill>
          <a:ln xmlns:a="http://schemas.openxmlformats.org/drawingml/2006/main" w="19050">
            <a:solidFill>
              <a:srgbClr val="F5A524"/>
            </a:solidFill>
            <a:prstDash val="solid"/>
          </a:ln>
        </p:spPr>
      </p:sp>
      <p:sp>
        <p:nvSpPr>
          <p:cNvPr id="23" name="refund-label">
            <a:extLst xmlns:a="http://schemas.openxmlformats.org/drawingml/2006/main">
              <a:ext uri="{FF2B5EF4-FFF2-40B4-BE49-F238E27FC236}">
                <a16:creationId xmlns:a16="http://schemas.microsoft.com/office/drawing/2014/main" id="{B4F2C5A6-D92E-436A-B3CA-D858D14F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67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524"/>
                </a:solidFill>
              </a:defRPr>
            </a:pPr>
            <a:r>
              <a:rPr sz="1350" b="1">
                <a:solidFill>
                  <a:srgbClr val="F5A524"/>
                </a:solidFill>
              </a:rPr>
              <a:t>At expiry → sponsor refund</a:t>
            </a:r>
          </a:p>
        </p:txBody>
      </p:sp>
      <p:sp>
        <p:nvSpPr>
          <p:cNvPr id="24" name="why-title">
            <a:extLst xmlns:a="http://schemas.openxmlformats.org/drawingml/2006/main">
              <a:ext uri="{FF2B5EF4-FFF2-40B4-BE49-F238E27FC236}">
                <a16:creationId xmlns:a16="http://schemas.microsoft.com/office/drawing/2014/main" id="{788B6377-73D7-4B5F-B512-7A4C5A64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F195"/>
                </a:solidFill>
              </a:defRPr>
            </a:pPr>
            <a:r>
              <a:rPr sz="2400" b="1">
                <a:solidFill>
                  <a:srgbClr val="14F195"/>
                </a:solidFill>
              </a:rPr>
              <a:t>Why Solana</a:t>
            </a:r>
          </a:p>
        </p:txBody>
      </p:sp>
      <p:sp>
        <p:nvSpPr>
          <p:cNvPr id="25" name="why-body">
            <a:extLst xmlns:a="http://schemas.openxmlformats.org/drawingml/2006/main">
              <a:ext uri="{FF2B5EF4-FFF2-40B4-BE49-F238E27FC236}">
                <a16:creationId xmlns:a16="http://schemas.microsoft.com/office/drawing/2014/main" id="{6635B33D-9617-4749-8DE8-57563581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5000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AA7C2"/>
                </a:solidFill>
              </a:defRPr>
            </a:pPr>
            <a:r>
              <a:rPr sz="1650" b="0">
                <a:solidFill>
                  <a:srgbClr val="9AA7C2"/>
                </a:solidFill>
              </a:rPr>
              <a:t>Publicly verifiable program state · fast settlement · explicit token-vault authority</a:t>
            </a:r>
          </a:p>
        </p:txBody>
      </p:sp>
      <p:sp>
        <p:nvSpPr>
          <p:cNvPr id="26" name="boundary-bar">
            <a:extLst xmlns:a="http://schemas.openxmlformats.org/drawingml/2006/main">
              <a:ext uri="{FF2B5EF4-FFF2-40B4-BE49-F238E27FC236}">
                <a16:creationId xmlns:a16="http://schemas.microsoft.com/office/drawing/2014/main" id="{C6CC174A-B100-48C1-8BEC-FA43675D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5562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11726"/>
          </a:solidFill>
          <a:ln xmlns:a="http://schemas.openxmlformats.org/drawingml/2006/main" w="9525">
            <a:solidFill>
              <a:srgbClr val="29334A"/>
            </a:solidFill>
            <a:prstDash val="solid"/>
          </a:ln>
        </p:spPr>
      </p:sp>
      <p:sp>
        <p:nvSpPr>
          <p:cNvPr id="27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7C1E8A8D-AC59-448F-8C63-E08ABAD5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339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8EDF7"/>
                </a:solidFill>
              </a:defRPr>
            </a:pPr>
            <a:r>
              <a:rPr sz="1950" b="1">
                <a:solidFill>
                  <a:srgbClr val="E8EDF7"/>
                </a:solidFill>
              </a:rPr>
              <a:t>Human approval stays human.</a:t>
            </a:r>
          </a:p>
        </p:txBody>
      </p:sp>
      <p:sp>
        <p:nvSpPr>
          <p:cNvPr id="28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6B770A56-4BF1-4DCF-BA4F-9C6C64C1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673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7C2"/>
                </a:solidFill>
              </a:defRPr>
            </a:pPr>
            <a:r>
              <a:rPr sz="1275" b="0">
                <a:solidFill>
                  <a:srgbClr val="9AA7C2"/>
                </a:solidFill>
              </a:rPr>
              <a:t>Escrow proves funding and settlement rules; it does not judge work quality or guarantee acceptance.</a:t>
            </a:r>
          </a:p>
        </p:txBody>
      </p:sp>
      <p:sp>
        <p:nvSpPr>
          <p:cNvPr id="29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3C286985-ACDA-43D8-898B-E9B4ACBD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A"/>
          </a:solidFill>
          <a:ln xmlns:a="http://schemas.openxmlformats.org/drawingml/2006/main" w="0">
            <a:solidFill>
              <a:srgbClr val="29334A"/>
            </a:solidFill>
            <a:prstDash val="solid"/>
          </a:ln>
        </p:spPr>
      </p:sp>
      <p:sp>
        <p:nvSpPr>
          <p:cNvPr id="30" name="footer-left-1">
            <a:extLst xmlns:a="http://schemas.openxmlformats.org/drawingml/2006/main">
              <a:ext uri="{FF2B5EF4-FFF2-40B4-BE49-F238E27FC236}">
                <a16:creationId xmlns:a16="http://schemas.microsoft.com/office/drawing/2014/main" id="{3E2C8DF4-0086-4BBB-8DE7-370393BD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7C2"/>
                </a:solidFill>
              </a:defRPr>
            </a:pPr>
            <a:r>
              <a:rPr sz="1050" b="1">
                <a:solidFill>
                  <a:srgbClr val="9AA7C2"/>
                </a:solidFill>
              </a:rPr>
              <a:t>OSS BOUNTY ESCROW · SOLANA DEVNET</a:t>
            </a:r>
          </a:p>
        </p:txBody>
      </p:sp>
      <p:sp>
        <p:nvSpPr>
          <p:cNvPr id="31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42BDCEF5-58B1-420A-8E62-D8DBFA8B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A7C2"/>
                </a:solidFill>
              </a:defRPr>
            </a:pPr>
            <a:r>
              <a:rPr sz="1050" b="1">
                <a:solidFill>
                  <a:srgbClr val="9AA7C2"/>
                </a:solidFill>
              </a:rPr>
              <a:t>01 / 02</a:t>
            </a:r>
          </a:p>
        </p:txBody>
      </p:sp>
    </p:spTree>
    <p:extLst>
      <p:ext uri="{BB962C8B-B14F-4D97-AF65-F5344CB8AC3E}">
        <p14:creationId xmlns:p14="http://schemas.microsoft.com/office/powerpoint/2010/main" val="7422614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roject-label-2">
            <a:extLst xmlns:a="http://schemas.openxmlformats.org/drawingml/2006/main">
              <a:ext uri="{FF2B5EF4-FFF2-40B4-BE49-F238E27FC236}">
                <a16:creationId xmlns:a16="http://schemas.microsoft.com/office/drawing/2014/main" id="{95E7F3C5-C172-4B82-B409-541F2A0A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F195"/>
                </a:solidFill>
              </a:defRPr>
            </a:pPr>
            <a:r>
              <a:rPr sz="1200" b="1">
                <a:solidFill>
                  <a:srgbClr val="14F195"/>
                </a:solidFill>
              </a:rPr>
              <a:t>DEMONSTRATED MVP</a:t>
            </a:r>
          </a:p>
        </p:txBody>
      </p:sp>
      <p:sp>
        <p:nvSpPr>
          <p:cNvPr id="2" name="headline-2">
            <a:extLst xmlns:a="http://schemas.openxmlformats.org/drawingml/2006/main">
              <a:ext uri="{FF2B5EF4-FFF2-40B4-BE49-F238E27FC236}">
                <a16:creationId xmlns:a16="http://schemas.microsoft.com/office/drawing/2014/main" id="{CB5420BF-B7BC-4D35-883B-2B9A563E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34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E8EDF7"/>
                </a:solidFill>
              </a:defRPr>
            </a:pPr>
            <a:r>
              <a:rPr sz="4200" b="1">
                <a:solidFill>
                  <a:srgbClr val="E8EDF7"/>
                </a:solidFill>
              </a:rPr>
              <a:t>The devnet MVP proves settlement, recovery and failure boundaries.</a:t>
            </a:r>
          </a:p>
        </p:txBody>
      </p:sp>
      <p:sp>
        <p:nvSpPr>
          <p:cNvPr id="3" name="proof-kicker">
            <a:extLst xmlns:a="http://schemas.openxmlformats.org/drawingml/2006/main">
              <a:ext uri="{FF2B5EF4-FFF2-40B4-BE49-F238E27FC236}">
                <a16:creationId xmlns:a16="http://schemas.microsoft.com/office/drawing/2014/main" id="{3A75FD00-90C2-4DDA-9CDE-5F04FC7E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A7C2"/>
                </a:solidFill>
              </a:defRPr>
            </a:pPr>
            <a:r>
              <a:rPr sz="1125" b="1">
                <a:solidFill>
                  <a:srgbClr val="9AA7C2"/>
                </a:solidFill>
              </a:rPr>
              <a:t>ONE CANONICAL RUN · 16 TERMINAL EVENTS</a:t>
            </a:r>
          </a:p>
        </p:txBody>
      </p:sp>
      <p:sp>
        <p:nvSpPr>
          <p:cNvPr id="4" name="metric-value-12">
            <a:extLst xmlns:a="http://schemas.openxmlformats.org/drawingml/2006/main">
              <a:ext uri="{FF2B5EF4-FFF2-40B4-BE49-F238E27FC236}">
                <a16:creationId xmlns:a16="http://schemas.microsoft.com/office/drawing/2014/main" id="{D88E7344-B628-4F0C-BA45-BC49F24B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2C55E"/>
                </a:solidFill>
              </a:defRPr>
            </a:pPr>
            <a:r>
              <a:rPr sz="4800" b="1">
                <a:solidFill>
                  <a:srgbClr val="22C55E"/>
                </a:solidFill>
              </a:rPr>
              <a:t>12</a:t>
            </a:r>
          </a:p>
        </p:txBody>
      </p:sp>
      <p:sp>
        <p:nvSpPr>
          <p:cNvPr id="5" name="metric-label-12">
            <a:extLst xmlns:a="http://schemas.openxmlformats.org/drawingml/2006/main">
              <a:ext uri="{FF2B5EF4-FFF2-40B4-BE49-F238E27FC236}">
                <a16:creationId xmlns:a16="http://schemas.microsoft.com/office/drawing/2014/main" id="{7B9D96F4-A20D-4023-B1B6-9330FA82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EDF7"/>
                </a:solidFill>
              </a:defRPr>
            </a:pPr>
            <a:r>
              <a:rPr sz="1425" b="1">
                <a:solidFill>
                  <a:srgbClr val="E8EDF7"/>
                </a:solidFill>
              </a:rPr>
              <a:t>finalized SEND</a:t>
            </a:r>
          </a:p>
        </p:txBody>
      </p:sp>
      <p:sp>
        <p:nvSpPr>
          <p:cNvPr id="6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3B1BA513-449C-4446-888E-0A889900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8600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5A524"/>
                </a:solidFill>
              </a:defRPr>
            </a:pPr>
            <a:r>
              <a:rPr sz="4800" b="1">
                <a:solidFill>
                  <a:srgbClr val="F5A524"/>
                </a:solidFill>
              </a:rPr>
              <a:t>3</a:t>
            </a:r>
          </a:p>
        </p:txBody>
      </p:sp>
      <p:sp>
        <p:nvSpPr>
          <p:cNvPr id="7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58F8E998-4B1F-47EC-A119-5FD0D696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6227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EDF7"/>
                </a:solidFill>
              </a:defRPr>
            </a:pPr>
            <a:r>
              <a:rPr sz="1425" b="1">
                <a:solidFill>
                  <a:srgbClr val="E8EDF7"/>
                </a:solidFill>
              </a:rPr>
              <a:t>read-only SIMULATE</a:t>
            </a:r>
          </a:p>
        </p:txBody>
      </p:sp>
      <p:sp>
        <p:nvSpPr>
          <p:cNvPr id="8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F8EC042E-0639-443C-9391-A3DC17C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8600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9945FF"/>
                </a:solidFill>
              </a:defRPr>
            </a:pPr>
            <a:r>
              <a:rPr sz="4800" b="1">
                <a:solidFill>
                  <a:srgbClr val="9945FF"/>
                </a:solidFill>
              </a:rPr>
              <a:t>1</a:t>
            </a:r>
          </a:p>
        </p:txBody>
      </p:sp>
      <p:sp>
        <p:nvSpPr>
          <p:cNvPr id="9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7C2081B9-CDE8-463C-AE5A-C40B5934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6227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EDF7"/>
                </a:solidFill>
              </a:defRPr>
            </a:pPr>
            <a:r>
              <a:rPr sz="1425" b="1">
                <a:solidFill>
                  <a:srgbClr val="E8EDF7"/>
                </a:solidFill>
              </a:rPr>
              <a:t>bounded WAIT</a:t>
            </a:r>
          </a:p>
        </p:txBody>
      </p:sp>
      <p:sp>
        <p:nvSpPr>
          <p:cNvPr id="10" name="accounting-surface">
            <a:extLst xmlns:a="http://schemas.openxmlformats.org/drawingml/2006/main">
              <a:ext uri="{FF2B5EF4-FFF2-40B4-BE49-F238E27FC236}">
                <a16:creationId xmlns:a16="http://schemas.microsoft.com/office/drawing/2014/main" id="{B7CC9D78-DF37-4F3E-A76D-E708D55D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561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11726"/>
          </a:solidFill>
          <a:ln xmlns:a="http://schemas.openxmlformats.org/drawingml/2006/main" w="9525">
            <a:solidFill>
              <a:srgbClr val="29334A"/>
            </a:solidFill>
            <a:prstDash val="solid"/>
          </a:ln>
        </p:spPr>
      </p:sp>
      <p:sp>
        <p:nvSpPr>
          <p:cNvPr id="11" name="accounting-title">
            <a:extLst xmlns:a="http://schemas.openxmlformats.org/drawingml/2006/main">
              <a:ext uri="{FF2B5EF4-FFF2-40B4-BE49-F238E27FC236}">
                <a16:creationId xmlns:a16="http://schemas.microsoft.com/office/drawing/2014/main" id="{50084876-9F40-4DC5-9BC8-B4E4DA1A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8EDF7"/>
                </a:solidFill>
              </a:defRPr>
            </a:pPr>
            <a:r>
              <a:rPr sz="2100" b="1">
                <a:solidFill>
                  <a:srgbClr val="E8EDF7"/>
                </a:solidFill>
              </a:rPr>
              <a:t>Final accounting reconciles</a:t>
            </a:r>
          </a:p>
        </p:txBody>
      </p:sp>
      <p:sp>
        <p:nvSpPr>
          <p:cNvPr id="12" name="accounting-equation">
            <a:extLst xmlns:a="http://schemas.openxmlformats.org/drawingml/2006/main">
              <a:ext uri="{FF2B5EF4-FFF2-40B4-BE49-F238E27FC236}">
                <a16:creationId xmlns:a16="http://schemas.microsoft.com/office/drawing/2014/main" id="{856505D9-F6A3-4ECD-83D1-77776A26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24325"/>
            <a:ext cx="510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F195"/>
                </a:solidFill>
              </a:defRPr>
            </a:pPr>
            <a:r>
              <a:rPr sz="1500" b="1">
                <a:solidFill>
                  <a:srgbClr val="14F195"/>
                </a:solidFill>
              </a:rPr>
              <a:t>3,000,000 minted = 1,000,000 contributor + 2,000,000 sponsor</a:t>
            </a:r>
          </a:p>
        </p:txBody>
      </p:sp>
      <p:sp>
        <p:nvSpPr>
          <p:cNvPr id="13" name="vault-note">
            <a:extLst xmlns:a="http://schemas.openxmlformats.org/drawingml/2006/main">
              <a:ext uri="{FF2B5EF4-FFF2-40B4-BE49-F238E27FC236}">
                <a16:creationId xmlns:a16="http://schemas.microsoft.com/office/drawing/2014/main" id="{3C1FBA59-77F6-4574-B21F-771CEF5F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AA7C2"/>
                </a:solidFill>
              </a:defRPr>
            </a:pPr>
            <a:r>
              <a:rPr sz="1575" b="0">
                <a:solidFill>
                  <a:srgbClr val="9AA7C2"/>
                </a:solidFill>
              </a:rPr>
              <a:t>Recorded vault principal reaches zero.</a:t>
            </a:r>
          </a:p>
        </p:txBody>
      </p:sp>
      <p:sp>
        <p:nvSpPr>
          <p:cNvPr id="14" name="direction-accent">
            <a:extLst xmlns:a="http://schemas.openxmlformats.org/drawingml/2006/main">
              <a:ext uri="{FF2B5EF4-FFF2-40B4-BE49-F238E27FC236}">
                <a16:creationId xmlns:a16="http://schemas.microsoft.com/office/drawing/2014/main" id="{C236F8FF-37A7-4D42-ABFF-3F73E1FB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00250"/>
            <a:ext cx="4762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45FF"/>
          </a:solidFill>
          <a:ln xmlns:a="http://schemas.openxmlformats.org/drawingml/2006/main" w="0">
            <a:solidFill>
              <a:srgbClr val="9945FF"/>
            </a:solidFill>
            <a:prstDash val="solid"/>
          </a:ln>
        </p:spPr>
      </p:sp>
      <p:sp>
        <p:nvSpPr>
          <p:cNvPr id="15" name="direction-title">
            <a:extLst xmlns:a="http://schemas.openxmlformats.org/drawingml/2006/main">
              <a:ext uri="{FF2B5EF4-FFF2-40B4-BE49-F238E27FC236}">
                <a16:creationId xmlns:a16="http://schemas.microsoft.com/office/drawing/2014/main" id="{E5FEA725-C593-4E76-9B84-D60C355B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00250"/>
            <a:ext cx="4400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8EDF7"/>
                </a:solidFill>
              </a:defRPr>
            </a:pPr>
            <a:r>
              <a:rPr sz="2850" b="1">
                <a:solidFill>
                  <a:srgbClr val="E8EDF7"/>
                </a:solidFill>
              </a:rPr>
              <a:t>Turn the primitive into a workflow.</a:t>
            </a:r>
          </a:p>
        </p:txBody>
      </p:sp>
      <p:sp>
        <p:nvSpPr>
          <p:cNvPr id="16" name="direction-body">
            <a:extLst xmlns:a="http://schemas.openxmlformats.org/drawingml/2006/main">
              <a:ext uri="{FF2B5EF4-FFF2-40B4-BE49-F238E27FC236}">
                <a16:creationId xmlns:a16="http://schemas.microsoft.com/office/drawing/2014/main" id="{D6B6D4A7-2430-4589-84EE-557DB0F9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86075"/>
            <a:ext cx="4286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AA7C2"/>
                </a:solidFill>
              </a:defRPr>
            </a:pPr>
            <a:r>
              <a:rPr sz="1725" b="0">
                <a:solidFill>
                  <a:srgbClr val="9AA7C2"/>
                </a:solidFill>
              </a:rPr>
              <a:t>Connect escrow identity and status to repository, issue and pull-request workflows—while retaining explicit maintainer-authorized release.</a:t>
            </a:r>
          </a:p>
        </p:txBody>
      </p:sp>
      <p:sp>
        <p:nvSpPr>
          <p:cNvPr id="17" name="limits-title">
            <a:extLst xmlns:a="http://schemas.openxmlformats.org/drawingml/2006/main">
              <a:ext uri="{FF2B5EF4-FFF2-40B4-BE49-F238E27FC236}">
                <a16:creationId xmlns:a16="http://schemas.microsoft.com/office/drawing/2014/main" id="{58F1BDBF-CE79-40D0-9F27-C538A35F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71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A524"/>
                </a:solidFill>
              </a:defRPr>
            </a:pPr>
            <a:r>
              <a:rPr sz="2100" b="1">
                <a:solidFill>
                  <a:srgbClr val="F5A524"/>
                </a:solidFill>
              </a:rPr>
              <a:t>Honest limits</a:t>
            </a:r>
          </a:p>
        </p:txBody>
      </p:sp>
      <p:sp>
        <p:nvSpPr>
          <p:cNvPr id="18" name="limits-body">
            <a:extLst xmlns:a="http://schemas.openxmlformats.org/drawingml/2006/main">
              <a:ext uri="{FF2B5EF4-FFF2-40B4-BE49-F238E27FC236}">
                <a16:creationId xmlns:a16="http://schemas.microsoft.com/office/drawing/2014/main" id="{EB421E23-9C47-475A-B501-4E1250A5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720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AA7C2"/>
                </a:solidFill>
              </a:defRPr>
            </a:pPr>
            <a:r>
              <a:rPr sz="1500" b="0">
                <a:solidFill>
                  <a:srgbClr val="9AA7C2"/>
                </a:solidFill>
              </a:rPr>
              <a:t>Unaudited · devnet/test tokens only · no dispute resolution · no persistence/recovery · no production operations</a:t>
            </a:r>
          </a:p>
        </p:txBody>
      </p:sp>
      <p:sp>
        <p:nvSpPr>
          <p:cNvPr id="19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6D012F8D-E531-469D-97EF-07A3F201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A"/>
          </a:solidFill>
          <a:ln xmlns:a="http://schemas.openxmlformats.org/drawingml/2006/main" w="0">
            <a:solidFill>
              <a:srgbClr val="29334A"/>
            </a:solidFill>
            <a:prstDash val="solid"/>
          </a:ln>
        </p:spPr>
      </p:sp>
      <p:sp>
        <p:nvSpPr>
          <p:cNvPr id="20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C0487E14-B191-4C1D-A1FA-AAC13505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7C2"/>
                </a:solidFill>
              </a:defRPr>
            </a:pPr>
            <a:r>
              <a:rPr sz="1050" b="1">
                <a:solidFill>
                  <a:srgbClr val="9AA7C2"/>
                </a:solidFill>
              </a:rPr>
              <a:t>OSS BOUNTY ESCROW · SOLANA DEVNET</a:t>
            </a:r>
          </a:p>
        </p:txBody>
      </p:sp>
      <p:sp>
        <p:nvSpPr>
          <p:cNvPr id="21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7CA27F5D-0D34-40C3-AC5C-7374BE47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A7C2"/>
                </a:solidFill>
              </a:defRPr>
            </a:pPr>
            <a:r>
              <a:rPr sz="1050" b="1">
                <a:solidFill>
                  <a:srgbClr val="9AA7C2"/>
                </a:solidFill>
              </a:rPr>
              <a:t>02 / 02</a:t>
            </a:r>
          </a:p>
        </p:txBody>
      </p:sp>
    </p:spTree>
    <p:extLst>
      <p:ext uri="{BB962C8B-B14F-4D97-AF65-F5344CB8AC3E}">
        <p14:creationId xmlns:p14="http://schemas.microsoft.com/office/powerpoint/2010/main" val="995297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2026-07-30T04:20:25.0820000Z</dcterms:created>
  <dcterms:modified xsi:type="dcterms:W3CDTF">2026-07-30T04:20:25.0820000Z</dcterms:modified>
</coreProperties>
</file>